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INIMAL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355080"/>
            <a:ext cx="10881360" cy="0"/>
          </a:xfrm>
          <a:prstGeom prst="line">
            <a:avLst/>
          </a:prstGeom>
          <a:noFill/>
          <a:ln w="10160">
            <a:solidFill>
              <a:srgbClr val="30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556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WEEKLY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921240" y="645566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54112" y="0"/>
            <a:ext cx="4434840" cy="6858000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54112" y="3063240"/>
            <a:ext cx="4434840" cy="3794760"/>
          </a:xfrm>
          <a:prstGeom prst="rect">
            <a:avLst/>
          </a:prstGeom>
          <a:solidFill>
            <a:srgbClr val="242424">
              <a:alpha val="88000"/>
            </a:srgbClr>
          </a:solidFill>
          <a:ln w="12700">
            <a:solidFill>
              <a:srgbClr val="24242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4261104"/>
            <a:ext cx="3154680" cy="3154680"/>
          </a:xfrm>
          <a:prstGeom prst="arc">
            <a:avLst/>
          </a:prstGeom>
          <a:solidFill>
            <a:srgbClr val="82745A">
              <a:alpha val="82000"/>
            </a:srgbClr>
          </a:solidFill>
          <a:ln w="12700">
            <a:solidFill>
              <a:srgbClr val="8274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07592"/>
            <a:ext cx="384048" cy="0"/>
          </a:xfrm>
          <a:prstGeom prst="line">
            <a:avLst/>
          </a:prstGeom>
          <a:noFill/>
          <a:ln w="17780">
            <a:solidFill>
              <a:srgbClr val="BFA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54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洞察趋势 / 辅助决策 / 关注落地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226771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AI行业周报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713232" y="3429000"/>
            <a:ext cx="3017520" cy="0"/>
          </a:xfrm>
          <a:prstGeom prst="line">
            <a:avLst/>
          </a:prstGeom>
          <a:noFill/>
          <a:ln w="1016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429000"/>
            <a:ext cx="457200" cy="0"/>
          </a:xfrm>
          <a:prstGeom prst="line">
            <a:avLst/>
          </a:prstGeom>
          <a:noFill/>
          <a:ln w="17780">
            <a:solidFill>
              <a:srgbClr val="BFA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高级简约深色系汇报模板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" y="55595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55595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55595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01400" y="5806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本期目录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08760" y="1627632"/>
            <a:ext cx="960120" cy="0"/>
          </a:xfrm>
          <a:prstGeom prst="line">
            <a:avLst/>
          </a:prstGeom>
          <a:noFill/>
          <a:ln w="889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4813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一周核心结论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36592" y="1527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先给判断，再展开依据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542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08760" y="2660904"/>
            <a:ext cx="960120" cy="0"/>
          </a:xfrm>
          <a:prstGeom prst="line">
            <a:avLst/>
          </a:prstGeom>
          <a:noFill/>
          <a:ln w="889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514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重点事件拆解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36592" y="2560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按影响力排序，控制信息密度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575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08760" y="3694176"/>
            <a:ext cx="960120" cy="0"/>
          </a:xfrm>
          <a:prstGeom prst="line">
            <a:avLst/>
          </a:prstGeom>
          <a:noFill/>
          <a:ln w="889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547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机会与风险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36592" y="3593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站在业务和管理视角看变化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6085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08760" y="4727448"/>
            <a:ext cx="960120" cy="0"/>
          </a:xfrm>
          <a:prstGeom prst="line">
            <a:avLst/>
          </a:prstGeom>
          <a:noFill/>
          <a:ln w="889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4581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下一步建议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36592" y="4626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给老板可拍板的行动项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0" y="1325880"/>
            <a:ext cx="2286000" cy="4160520"/>
          </a:xfrm>
          <a:prstGeom prst="roundRect">
            <a:avLst>
              <a:gd name="adj" fmla="val 3200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17007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阅读逻辑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15984" y="22402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像公众号文章一样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“先结论、再分段、最后给建议”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但保持PPT的克制和高级感。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老板先看：3个核心判断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10012680" cy="960120"/>
          </a:xfrm>
          <a:prstGeom prst="roundRect">
            <a:avLst>
              <a:gd name="adj" fmla="val 7619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6276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64792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46120" y="15544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AI竞争从模型能力，转向“算力 + 产品化 + 分发渠道”的综合竞争。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10012680" cy="960120"/>
          </a:xfrm>
          <a:prstGeom prst="roundRect">
            <a:avLst>
              <a:gd name="adj" fmla="val 7619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953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64792" y="2862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2880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Agent正在进入可执行任务阶段，但权限、安全和成本控制会成为落地门槛。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10012680" cy="960120"/>
          </a:xfrm>
          <a:prstGeom prst="roundRect">
            <a:avLst>
              <a:gd name="adj" fmla="val 7619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279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64792" y="4187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4612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企业应用会先在研发、客服、内容、投研等高频场景出现确定性收益。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8338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适用：周报 / 月报 / 战略简报 / 行业观察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公众号文章式排版：标题 + 摘要 + 正文卡片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事件标题｜这里放一句最关键的信息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1248" y="18653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用一句话说明：这件事对行业、公司或业务有什么直接影响。避免堆砌新闻细节。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10332720" cy="2651760"/>
          </a:xfrm>
          <a:prstGeom prst="roundRect">
            <a:avLst>
              <a:gd name="adj" fmla="val 2759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24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1546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一句话概括事实背景，控制在一行半以内。</a:t>
            </a:r>
            <a:endParaRPr lang="en-US" sz="1250" dirty="0"/>
          </a:p>
          <a:p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补充关键数字、合作方、时间点或政策变化。</a:t>
            </a:r>
            <a:endParaRPr lang="en-US" sz="1250" dirty="0"/>
          </a:p>
          <a:p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最后落到“这对我们意味着什么”。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2788920"/>
            <a:ext cx="0" cy="1737360"/>
          </a:xfrm>
          <a:prstGeom prst="line">
            <a:avLst/>
          </a:prstGeom>
          <a:noFill/>
          <a:ln w="10160">
            <a:solidFill>
              <a:srgbClr val="3434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724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1546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站在老板视角：成本、效率、机会、风险。</a:t>
            </a:r>
            <a:endParaRPr lang="en-US" sz="1250" dirty="0"/>
          </a:p>
          <a:p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尽量少讲概念，多讲决策影响。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重点事件：三卡片信息流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73736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222222"/>
          </a:solidFill>
          <a:ln w="7620">
            <a:solidFill>
              <a:srgbClr val="3B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805940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F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78992" y="2249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算力扩张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78992" y="281635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大模型公司继续争夺GPU、数据中心与网络能力。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78992" y="3986784"/>
            <a:ext cx="2331720" cy="0"/>
          </a:xfrm>
          <a:prstGeom prst="line">
            <a:avLst/>
          </a:prstGeom>
          <a:noFill/>
          <a:ln w="10160">
            <a:solidFill>
              <a:srgbClr val="363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343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影响：服务容量、训练速度、单位成本。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41732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173736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222222"/>
          </a:solidFill>
          <a:ln w="7620">
            <a:solidFill>
              <a:srgbClr val="3B3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05940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F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02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53712" y="2249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Agent落地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53712" y="281635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从聊天助手走向工具调用、流程执行和长期任务。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53712" y="3986784"/>
            <a:ext cx="2331720" cy="0"/>
          </a:xfrm>
          <a:prstGeom prst="line">
            <a:avLst/>
          </a:prstGeom>
          <a:noFill/>
          <a:ln w="10160">
            <a:solidFill>
              <a:srgbClr val="363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4343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影响：办公、研发、客服流程重构。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0" y="141732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28432" y="173736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222222"/>
          </a:solidFill>
          <a:ln w="7620">
            <a:solidFill>
              <a:srgbClr val="3B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805940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F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03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028432" y="2249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安全治理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028432" y="281635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模型接入外部系统后，权限和审计问题更突出。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28432" y="3986784"/>
            <a:ext cx="2331720" cy="0"/>
          </a:xfrm>
          <a:prstGeom prst="line">
            <a:avLst/>
          </a:prstGeom>
          <a:noFill/>
          <a:ln w="10160">
            <a:solidFill>
              <a:srgbClr val="3636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4343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影响：企业采购门槛提高。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822192" cy="685800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22192" y="777240"/>
            <a:ext cx="10973" cy="5303520"/>
          </a:xfrm>
          <a:prstGeom prst="rect">
            <a:avLst/>
          </a:prstGeom>
          <a:solidFill>
            <a:srgbClr val="BFA46A"/>
          </a:solidFill>
          <a:ln w="12700">
            <a:solidFill>
              <a:srgbClr val="BFA46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核心事件拆解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每页只讲一个观点，像文章小节一样推进。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99339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从“发生了什么”到“为何重要”，最后落到“对业务的影响”。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663440" y="2944368"/>
            <a:ext cx="4160520" cy="0"/>
          </a:xfrm>
          <a:prstGeom prst="line">
            <a:avLst/>
          </a:prstGeom>
          <a:noFill/>
          <a:ln w="15240">
            <a:solidFill>
              <a:srgbClr val="BFA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3375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建议保留这一页作为章节页，汇报时可以自然停顿，避免信息连续轰炸。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一周时间线：按时间展示脉络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3474720"/>
            <a:ext cx="978408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828" y="3424428"/>
            <a:ext cx="100584" cy="100584"/>
          </a:xfrm>
          <a:prstGeom prst="ellipse">
            <a:avLst/>
          </a:prstGeom>
          <a:solidFill>
            <a:srgbClr val="BFA46A"/>
          </a:solidFill>
          <a:ln w="12700">
            <a:solidFill>
              <a:srgbClr val="BFA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07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803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政策与合作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0420" y="3424428"/>
            <a:ext cx="100584" cy="100584"/>
          </a:xfrm>
          <a:prstGeom prst="ellipse">
            <a:avLst/>
          </a:prstGeom>
          <a:solidFill>
            <a:srgbClr val="BFA46A"/>
          </a:solidFill>
          <a:ln w="12700">
            <a:solidFill>
              <a:srgbClr val="BFA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2907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07792" y="3803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产品更新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11012" y="3424428"/>
            <a:ext cx="100584" cy="100584"/>
          </a:xfrm>
          <a:prstGeom prst="ellipse">
            <a:avLst/>
          </a:prstGeom>
          <a:solidFill>
            <a:srgbClr val="BFA46A"/>
          </a:solidFill>
          <a:ln w="12700">
            <a:solidFill>
              <a:srgbClr val="BFA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32704" y="2907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5/05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58384" y="3803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模型发布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61604" y="3424428"/>
            <a:ext cx="100584" cy="100584"/>
          </a:xfrm>
          <a:prstGeom prst="ellipse">
            <a:avLst/>
          </a:prstGeom>
          <a:solidFill>
            <a:srgbClr val="BFA46A"/>
          </a:solidFill>
          <a:ln w="12700">
            <a:solidFill>
              <a:srgbClr val="BFA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3296" y="2907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5/06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08976" y="3803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算力/Agent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712196" y="3424428"/>
            <a:ext cx="100584" cy="100584"/>
          </a:xfrm>
          <a:prstGeom prst="ellipse">
            <a:avLst/>
          </a:prstGeom>
          <a:solidFill>
            <a:srgbClr val="BFA46A"/>
          </a:solidFill>
          <a:ln w="12700">
            <a:solidFill>
              <a:srgbClr val="BFA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33888" y="2907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59568" y="3803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安全风险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4754880"/>
            <a:ext cx="9326880" cy="685800"/>
          </a:xfrm>
          <a:prstGeom prst="roundRect">
            <a:avLst>
              <a:gd name="adj" fmla="val 10667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49834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使用建议：时间线页不要写满细节，只承担“帮助老板建立顺序感”的作用。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数据/指标页：少图表，强结论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252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把数字变成判断，不要把图表变成截图墙。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2677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2724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示例：模型调用量环比增长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3246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3703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示例：单位内容生产成本下降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" y="42245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46817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示例：从调研到交付的周期缩短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92040" y="1828800"/>
            <a:ext cx="5806440" cy="3017520"/>
          </a:xfrm>
          <a:prstGeom prst="roundRect">
            <a:avLst>
              <a:gd name="adj" fmla="val 2424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267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F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管理层解读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0" y="2761488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优先关注“效率提升”和“成本变化”，比单纯追热点更有价值。</a:t>
            </a:r>
            <a:endParaRPr lang="en-US" sz="1250" dirty="0"/>
          </a:p>
          <a:p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每个数字后面必须跟一句业务解释。</a:t>
            </a:r>
            <a:endParaRPr lang="en-US" sz="1250" dirty="0"/>
          </a:p>
          <a:p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图表数量建议控制在1个以内，重点突出结论。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机会与风险矩阵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417320"/>
            <a:ext cx="9784080" cy="4526280"/>
          </a:xfrm>
          <a:prstGeom prst="roundRect">
            <a:avLst>
              <a:gd name="adj" fmla="val 1616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1783080"/>
            <a:ext cx="0" cy="3703320"/>
          </a:xfrm>
          <a:prstGeom prst="line">
            <a:avLst/>
          </a:prstGeom>
          <a:noFill/>
          <a:ln w="1016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3657600"/>
            <a:ext cx="8869680" cy="0"/>
          </a:xfrm>
          <a:prstGeom prst="line">
            <a:avLst/>
          </a:prstGeom>
          <a:noFill/>
          <a:ln w="10160">
            <a:solidFill>
              <a:srgbClr val="383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高机会 / 高确定性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395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优先试点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内容生产、客服知识库、研发辅助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9632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高机会 / 高风险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99632" y="2395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谨慎推进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外部工具调用、自动执行、敏感数据接入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低机会 / 高确定性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低优先级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只做流程优化，不做大投入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低机会 / 高风险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9632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无法量化收益且合规不清晰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金句页 / 观点页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47088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“AI不是单点工具升级，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而是业务流程重新设计的起点。”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87552" y="3529584"/>
            <a:ext cx="640080" cy="0"/>
          </a:xfrm>
          <a:prstGeom prst="line">
            <a:avLst/>
          </a:prstGeom>
          <a:noFill/>
          <a:ln w="17780">
            <a:solidFill>
              <a:srgbClr val="BFA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这类页面适合放在章节结尾，用一句话帮助老板记住核心观点。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572768"/>
            <a:ext cx="2331720" cy="3520440"/>
          </a:xfrm>
          <a:prstGeom prst="roundRect">
            <a:avLst>
              <a:gd name="adj" fmla="val 3137"/>
            </a:avLst>
          </a:prstGeom>
          <a:solidFill>
            <a:srgbClr val="1C1C1C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适合内容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51460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战略观点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10881360" cy="914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WEEKLY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下一步建议：让汇报可执行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35640" y="49377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27632" y="1399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先选场景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14356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选择一个高频、低风险、有明确ROI的AI应用场景。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2084832"/>
            <a:ext cx="905256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96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27632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小范围试点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4414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两周内完成流程测试，衡量效率、质量和成本变化。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3090672"/>
            <a:ext cx="905256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5021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27632" y="3410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建立边界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34472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同步制定数据权限、人工复核和结果追责机制。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4096512"/>
            <a:ext cx="905256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507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F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27632" y="4416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复盘扩展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37560" y="44531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用试点结果决定是否进入部门级推广。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0120" y="5102352"/>
            <a:ext cx="9052560" cy="0"/>
          </a:xfrm>
          <a:prstGeom prst="line">
            <a:avLst/>
          </a:prstGeom>
          <a:noFill/>
          <a:ln w="8890">
            <a:solidFill>
              <a:srgbClr val="30303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54112" y="0"/>
            <a:ext cx="4434840" cy="6858000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54112" y="3063240"/>
            <a:ext cx="4434840" cy="3794760"/>
          </a:xfrm>
          <a:prstGeom prst="rect">
            <a:avLst/>
          </a:prstGeom>
          <a:solidFill>
            <a:srgbClr val="242424">
              <a:alpha val="88000"/>
            </a:srgbClr>
          </a:solidFill>
          <a:ln w="12700">
            <a:solidFill>
              <a:srgbClr val="24242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4261104"/>
            <a:ext cx="3154680" cy="3154680"/>
          </a:xfrm>
          <a:prstGeom prst="arc">
            <a:avLst/>
          </a:prstGeom>
          <a:solidFill>
            <a:srgbClr val="82745A">
              <a:alpha val="82000"/>
            </a:srgbClr>
          </a:solidFill>
          <a:ln w="12700">
            <a:solidFill>
              <a:srgbClr val="82745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04672" y="2999232"/>
            <a:ext cx="914400" cy="0"/>
          </a:xfrm>
          <a:prstGeom prst="line">
            <a:avLst/>
          </a:prstGeom>
          <a:noFill/>
          <a:ln w="17780">
            <a:solidFill>
              <a:srgbClr val="BFA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29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附录可放：新闻来源、数据口径、完整事件列表。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5705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D8D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高级简约深色系PPT模板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8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AI行业周报｜高级简约深色系PPT模板</dc:title>
  <dc:subject>高级简约深色系PPT模板</dc:subject>
  <dc:creator>OpenAI</dc:creator>
  <cp:lastModifiedBy>OpenAI</cp:lastModifiedBy>
  <cp:revision>1</cp:revision>
  <dcterms:created xsi:type="dcterms:W3CDTF">2026-05-07T07:52:42Z</dcterms:created>
  <dcterms:modified xsi:type="dcterms:W3CDTF">2026-05-07T07:52:42Z</dcterms:modified>
</cp:coreProperties>
</file>